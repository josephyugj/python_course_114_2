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3" r:id="rId7"/>
    <p:sldId id="264" r:id="rId8"/>
    <p:sldId id="266" r:id="rId9"/>
    <p:sldId id="267" r:id="rId10"/>
    <p:sldId id="272" r:id="rId11"/>
    <p:sldId id="273" r:id="rId12"/>
    <p:sldId id="274" r:id="rId13"/>
    <p:sldId id="280" r:id="rId14"/>
    <p:sldId id="275" r:id="rId15"/>
    <p:sldId id="281" r:id="rId16"/>
    <p:sldId id="282" r:id="rId17"/>
    <p:sldId id="276" r:id="rId18"/>
    <p:sldId id="278" r:id="rId19"/>
    <p:sldId id="279" r:id="rId2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6"/>
    <p:restoredTop sz="94727"/>
  </p:normalViewPr>
  <p:slideViewPr>
    <p:cSldViewPr snapToGrid="0" snapToObjects="1">
      <p:cViewPr varScale="1">
        <p:scale>
          <a:sx n="79" d="100"/>
          <a:sy n="79" d="100"/>
        </p:scale>
        <p:origin x="240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60CEAD-310F-3C41-8CE0-4D6DB874A0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0CACDB9-8075-624F-BD7B-69894D506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按一下以編輯母片副標題樣式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67202A6-D480-F44D-B385-18D7500EE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7B01-CB7A-A44C-8DF1-4792F48E4349}" type="datetimeFigureOut">
              <a:rPr kumimoji="1" lang="zh-TW" altLang="en-US" smtClean="0"/>
              <a:t>2020/4/17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A97125D-24AE-A440-9F62-D53455011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798F4CA-E0F2-3648-9E10-3BA5F7397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41372-8C19-F844-94C2-C6D01A1F149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78881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EC10C9-3C1C-C94B-AEEA-F0068CE56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3432D77-5FAB-4845-8965-FB2D3A03B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D1D5FAE-F4B4-AF43-8B03-F0513525D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7B01-CB7A-A44C-8DF1-4792F48E4349}" type="datetimeFigureOut">
              <a:rPr kumimoji="1" lang="zh-TW" altLang="en-US" smtClean="0"/>
              <a:t>2020/4/17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6799B4F-3D50-4F40-A59E-52C61B177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FE148E1-AD2D-AA4C-A63C-F79B71AE2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41372-8C19-F844-94C2-C6D01A1F149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7809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16978D-C87C-A04B-9815-E6A7DC489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88023E8-76D2-D949-9048-1336620BB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0E7AE25-920E-044F-B200-70C8DB11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7B01-CB7A-A44C-8DF1-4792F48E4349}" type="datetimeFigureOut">
              <a:rPr kumimoji="1" lang="zh-TW" altLang="en-US" smtClean="0"/>
              <a:t>2020/4/17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1C923DA-242D-AD41-9C6D-1091D0B9D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7FC3BB3-8BCE-E44D-927F-C58368BAE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41372-8C19-F844-94C2-C6D01A1F149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35009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2CB81A-F8ED-C94D-929F-F57827366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E4E41EC-3C11-8B49-9FDA-A2661EA949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72A8D31-2CD3-5041-BAD4-9553682EDC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9385400-5E68-B249-A9C9-5D0675CCA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7B01-CB7A-A44C-8DF1-4792F48E4349}" type="datetimeFigureOut">
              <a:rPr kumimoji="1" lang="zh-TW" altLang="en-US" smtClean="0"/>
              <a:t>2020/4/17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7025136-E465-8D4D-BB2E-800C9A921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FA3A54B-E68D-2F42-A508-02B64164D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41372-8C19-F844-94C2-C6D01A1F149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00508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4F31DE-6812-D146-9AD0-4337006E3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B5115D0-B770-D44A-8599-C8413996E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331B9C1-8593-B241-97B9-9B116C6151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182BCC9-AD93-5247-ACCA-A5FE0004F0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3A40D8E-CF3B-214E-9A24-63826F9D22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5EB56E3-A9A1-A34D-8D38-8E521C225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7B01-CB7A-A44C-8DF1-4792F48E4349}" type="datetimeFigureOut">
              <a:rPr kumimoji="1" lang="zh-TW" altLang="en-US" smtClean="0"/>
              <a:t>2020/4/17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4BD92AE-E250-7145-BC0A-7E1D10B5D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7977D30-A7EF-E34B-9C9B-6489061AC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41372-8C19-F844-94C2-C6D01A1F149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56806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428E79-F027-4449-B41B-EF06FB878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521FFF3-37DE-274B-97E3-461730896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7B01-CB7A-A44C-8DF1-4792F48E4349}" type="datetimeFigureOut">
              <a:rPr kumimoji="1" lang="zh-TW" altLang="en-US" smtClean="0"/>
              <a:t>2020/4/17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6F4CDD4-77CF-3540-ACCE-457BC3882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12AD1B8-4E04-D242-AFE6-CD4F87FD6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41372-8C19-F844-94C2-C6D01A1F149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19045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4535B38-5479-F149-9BDF-120A9B061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7B01-CB7A-A44C-8DF1-4792F48E4349}" type="datetimeFigureOut">
              <a:rPr kumimoji="1" lang="zh-TW" altLang="en-US" smtClean="0"/>
              <a:t>2020/4/17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18E9631-C973-1D46-8CBB-C7A0B00E5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4C4E89-4571-9C4A-AEF5-FBE1AAA34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41372-8C19-F844-94C2-C6D01A1F149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1405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A1FE90-82DF-1B47-BB71-765DE8E42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45E05E1-9A2A-BE4B-BAF8-364406E7B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CFD239F-2B7F-3041-89BA-7040308383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6836950-1735-5A41-8E6C-3DE96CFA7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7B01-CB7A-A44C-8DF1-4792F48E4349}" type="datetimeFigureOut">
              <a:rPr kumimoji="1" lang="zh-TW" altLang="en-US" smtClean="0"/>
              <a:t>2020/4/17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5952895-BF86-FB49-ABB0-856884737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22B6A2E-9827-964B-AFAF-E9F30569F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41372-8C19-F844-94C2-C6D01A1F149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03744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E2C7D8-B916-6F44-90C5-3961F3FDD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10B38AA-0BEF-8146-BB22-E3B759562D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02F26AE-1C4A-2E49-AFA0-B51DFDFA5B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B51A4D0-00D3-FA4F-8D16-6E640A39A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7B01-CB7A-A44C-8DF1-4792F48E4349}" type="datetimeFigureOut">
              <a:rPr kumimoji="1" lang="zh-TW" altLang="en-US" smtClean="0"/>
              <a:t>2020/4/17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94FC9DF-B440-2146-B6DB-C16D8D571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960898D-805C-3D45-8925-1EFCCEB65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41372-8C19-F844-94C2-C6D01A1F149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59741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82E849-49C8-AE43-AD36-1C3446156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1037FA5-1231-0C4C-825B-A16DDB6F52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C7840B4-CB50-844A-86B1-4DB7F5647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7B01-CB7A-A44C-8DF1-4792F48E4349}" type="datetimeFigureOut">
              <a:rPr kumimoji="1" lang="zh-TW" altLang="en-US" smtClean="0"/>
              <a:t>2020/4/17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C3D74F6-7BCD-184B-81A3-B0186B07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06BA22-9C5F-4E43-B54B-A7837920C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41372-8C19-F844-94C2-C6D01A1F149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32766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標題 1">
            <a:extLst>
              <a:ext uri="{FF2B5EF4-FFF2-40B4-BE49-F238E27FC236}">
                <a16:creationId xmlns:a16="http://schemas.microsoft.com/office/drawing/2014/main" id="{F6D271D5-A00B-1846-9388-D0064EF2E1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F048CFF-D623-F549-8838-F9CEFF6274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3D1B546-3318-384C-8BF8-C445CA8F7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7B01-CB7A-A44C-8DF1-4792F48E4349}" type="datetimeFigureOut">
              <a:rPr kumimoji="1" lang="zh-TW" altLang="en-US" smtClean="0"/>
              <a:t>2020/4/17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FF0A7C6-84E8-2B49-B347-88A1B8891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4893B2F-35CF-7746-8F1C-CC78ADA04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41372-8C19-F844-94C2-C6D01A1F149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15648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F9BEF5E-92AA-054B-AFFB-BA4B7A495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C4A8CBE-D545-3845-A5AB-E65C9B279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0FF1BF0-8B0E-6A4A-AAF6-84E4D6CA54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B87B01-CB7A-A44C-8DF1-4792F48E4349}" type="datetimeFigureOut">
              <a:rPr kumimoji="1" lang="zh-TW" altLang="en-US" smtClean="0"/>
              <a:t>2020/4/17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611CA63-3946-7D4C-8562-CFD4BBBC09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2269E02-BC7B-F448-B322-E2D5ED5BCA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41372-8C19-F844-94C2-C6D01A1F149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06913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78EB9A-94C9-CE41-BA5F-D5B2328D12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zh-TW" b="1" dirty="0"/>
              <a:t>第</a:t>
            </a:r>
            <a:r>
              <a:rPr lang="en-US" altLang="zh-TW" b="1" dirty="0"/>
              <a:t>4</a:t>
            </a:r>
            <a:r>
              <a:rPr lang="zh-TW" altLang="zh-TW" b="1" dirty="0"/>
              <a:t>章</a:t>
            </a:r>
            <a:br>
              <a:rPr lang="zh-TW" altLang="zh-TW" dirty="0"/>
            </a:br>
            <a:endParaRPr kumimoji="1"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1318E9A-E934-664B-AA64-8E3BD7CFC0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zh-TW" b="1" dirty="0"/>
              <a:t>基本輸入與輸出</a:t>
            </a:r>
            <a:endParaRPr lang="zh-TW" altLang="zh-TW" dirty="0"/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59088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5B1F49-5999-0041-B5CD-FA66A4AA7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4-1</a:t>
            </a:r>
            <a:r>
              <a:rPr lang="zh-TW" altLang="zh-TW" b="1" dirty="0"/>
              <a:t>：</a:t>
            </a:r>
            <a:r>
              <a:rPr lang="en-US" altLang="zh-TW" b="1" dirty="0"/>
              <a:t>Python</a:t>
            </a:r>
            <a:r>
              <a:rPr lang="zh-TW" altLang="zh-TW" b="1" dirty="0"/>
              <a:t>的輔助說明</a:t>
            </a:r>
            <a:r>
              <a:rPr lang="en-US" altLang="zh-TW" b="1" dirty="0"/>
              <a:t>help( 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1796A56-02F5-EB40-AE85-87C3C095B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help( )</a:t>
            </a:r>
            <a:r>
              <a:rPr lang="zh-TW" altLang="zh-TW" dirty="0"/>
              <a:t>函數可以列出某一個</a:t>
            </a:r>
            <a:r>
              <a:rPr lang="en-US" altLang="zh-TW" dirty="0"/>
              <a:t>Python</a:t>
            </a:r>
            <a:r>
              <a:rPr lang="zh-TW" altLang="zh-TW" dirty="0"/>
              <a:t>的指令或函數的使用說明。</a:t>
            </a:r>
            <a:endParaRPr lang="en-US" altLang="zh-TW" dirty="0"/>
          </a:p>
          <a:p>
            <a:pPr>
              <a:spcAft>
                <a:spcPts val="0"/>
              </a:spcAft>
            </a:pPr>
            <a:r>
              <a:rPr lang="zh-TW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實例</a:t>
            </a:r>
            <a:r>
              <a:rPr lang="en-US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：列出輸出函數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print( )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的使用說明。</a:t>
            </a:r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36225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0F493F-B3DD-5643-9242-D48530358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4-2</a:t>
            </a:r>
            <a:r>
              <a:rPr lang="zh-TW" altLang="zh-TW" b="1" dirty="0"/>
              <a:t>：格式化輸出資料使用</a:t>
            </a:r>
            <a:r>
              <a:rPr lang="en-US" altLang="zh-TW" b="1" dirty="0"/>
              <a:t>print( 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3C9AECC-4621-B846-A83D-352056C64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Aft>
                <a:spcPts val="0"/>
              </a:spcAft>
            </a:pPr>
            <a:r>
              <a:rPr lang="en-US" altLang="zh-TW" b="1" kern="100" dirty="0">
                <a:latin typeface="Lantinghei TC Demibold" panose="03000509000000000000" pitchFamily="66" charset="-120"/>
                <a:cs typeface="Times New Roman" panose="02020603050405020304" pitchFamily="18" charset="0"/>
              </a:rPr>
              <a:t>4-2-1</a:t>
            </a:r>
            <a:r>
              <a:rPr lang="zh-TW" altLang="zh-TW" b="1" kern="100" dirty="0">
                <a:latin typeface="Calibri" panose="020F0502020204030204" pitchFamily="34" charset="0"/>
                <a:ea typeface="Lantinghei TC Demibold" panose="03000509000000000000" pitchFamily="66" charset="-120"/>
                <a:cs typeface="Times New Roman" panose="02020603050405020304" pitchFamily="18" charset="0"/>
              </a:rPr>
              <a:t>：函數</a:t>
            </a:r>
            <a:r>
              <a:rPr lang="en-US" altLang="zh-TW" b="1" kern="100" dirty="0">
                <a:latin typeface="Calibri" panose="020F0502020204030204" pitchFamily="34" charset="0"/>
                <a:ea typeface="Lantinghei TC Demibold" panose="03000509000000000000" pitchFamily="66" charset="-120"/>
                <a:cs typeface="Times New Roman" panose="02020603050405020304" pitchFamily="18" charset="0"/>
              </a:rPr>
              <a:t>print( )</a:t>
            </a:r>
            <a:r>
              <a:rPr lang="zh-TW" altLang="zh-TW" b="1" kern="100" dirty="0">
                <a:latin typeface="Calibri" panose="020F0502020204030204" pitchFamily="34" charset="0"/>
                <a:ea typeface="Lantinghei TC Demibold" panose="03000509000000000000" pitchFamily="66" charset="-120"/>
                <a:cs typeface="Times New Roman" panose="02020603050405020304" pitchFamily="18" charset="0"/>
              </a:rPr>
              <a:t>的基本語法</a:t>
            </a: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76200" indent="0" algn="just">
              <a:spcAft>
                <a:spcPts val="0"/>
              </a:spcAft>
              <a:buNone/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print(value, … , </a:t>
            </a:r>
            <a:r>
              <a:rPr lang="en-US" altLang="zh-TW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sep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=” “, end=”\n”, file=</a:t>
            </a:r>
            <a:r>
              <a:rPr lang="en-US" altLang="zh-TW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sys.stdout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, flush=False)</a:t>
            </a: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zh-TW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程式實例</a:t>
            </a:r>
            <a:r>
              <a:rPr lang="en-US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ch4_1.py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：重新設計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ch3_1</a:t>
            </a:r>
            <a:r>
              <a:rPr lang="en-US" altLang="zh-Hant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.py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，其中在第二個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print( )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，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筆輸出資料的分隔字元是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” $$$ “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。</a:t>
            </a:r>
            <a:endParaRPr lang="en-US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endParaRPr lang="en-US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TW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程式實例</a:t>
            </a:r>
            <a:r>
              <a:rPr lang="en-US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ch4_2.py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：重新設計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ch4_1.py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，將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筆資料在同一行輸出，彼此之間使用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Tab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鍵的距離隔開。</a:t>
            </a:r>
          </a:p>
          <a:p>
            <a:pPr>
              <a:spcAft>
                <a:spcPts val="0"/>
              </a:spcAft>
            </a:pP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58208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BFE986-A23B-BF4F-B67F-9861DA330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4-2-2</a:t>
            </a:r>
            <a:r>
              <a:rPr lang="zh-TW" altLang="zh-TW" b="1" dirty="0"/>
              <a:t>：格式化</a:t>
            </a:r>
            <a:r>
              <a:rPr lang="en-US" altLang="zh-TW" b="1" dirty="0"/>
              <a:t>print( )</a:t>
            </a:r>
            <a:r>
              <a:rPr lang="zh-TW" altLang="zh-TW" b="1" dirty="0"/>
              <a:t>輸出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354198-CE57-6040-9EBF-2E0ECEAAE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print(“  …</a:t>
            </a:r>
            <a:r>
              <a:rPr lang="zh-TW" altLang="zh-TW" dirty="0"/>
              <a:t>輸出格式區</a:t>
            </a:r>
            <a:r>
              <a:rPr lang="en-US" altLang="zh-TW" dirty="0"/>
              <a:t>…  “  %  ( </a:t>
            </a:r>
            <a:r>
              <a:rPr lang="zh-TW" altLang="zh-TW" dirty="0"/>
              <a:t>變數系列區</a:t>
            </a:r>
            <a:r>
              <a:rPr lang="en-US" altLang="zh-TW" dirty="0"/>
              <a:t>,  …  ))</a:t>
            </a:r>
            <a:endParaRPr lang="zh-TW" altLang="zh-TW" dirty="0"/>
          </a:p>
          <a:p>
            <a:pPr lvl="0"/>
            <a:r>
              <a:rPr lang="en-US" altLang="zh-TW" dirty="0"/>
              <a:t>%d</a:t>
            </a:r>
            <a:r>
              <a:rPr lang="zh-TW" altLang="zh-TW" dirty="0"/>
              <a:t>：格式化整數輸出。</a:t>
            </a:r>
          </a:p>
          <a:p>
            <a:pPr lvl="0"/>
            <a:r>
              <a:rPr lang="en-US" altLang="zh-TW" dirty="0"/>
              <a:t>%f</a:t>
            </a:r>
            <a:r>
              <a:rPr lang="zh-TW" altLang="zh-TW" dirty="0"/>
              <a:t>：格式化浮點數輸出。</a:t>
            </a:r>
          </a:p>
          <a:p>
            <a:pPr lvl="0"/>
            <a:r>
              <a:rPr lang="en-US" altLang="zh-TW" dirty="0"/>
              <a:t>%x</a:t>
            </a:r>
            <a:r>
              <a:rPr lang="zh-TW" altLang="zh-TW" dirty="0"/>
              <a:t>：格式化</a:t>
            </a:r>
            <a:r>
              <a:rPr lang="en-US" altLang="zh-TW" dirty="0"/>
              <a:t>16</a:t>
            </a:r>
            <a:r>
              <a:rPr lang="zh-TW" altLang="zh-TW" dirty="0"/>
              <a:t>進位整數輸出。</a:t>
            </a:r>
          </a:p>
          <a:p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066811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CA0E8D-31B6-AF45-8D9D-F1D82D299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02129"/>
            <a:ext cx="10515600" cy="5474834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zh-TW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程式實例</a:t>
            </a:r>
            <a:r>
              <a:rPr lang="en-US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ch4_3.py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：格式化輸出的應用。</a:t>
            </a:r>
            <a:endParaRPr lang="en-US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endParaRPr lang="en-US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31503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488D8C-0DC6-3C44-8034-85D4F8E3E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4-2-3</a:t>
            </a:r>
            <a:r>
              <a:rPr lang="zh-TW" altLang="zh-TW" b="1" dirty="0"/>
              <a:t>：精準控制格式化的輸出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BCB9EFC-3709-DB4A-95BD-7F06FC94F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spcAft>
                <a:spcPts val="0"/>
              </a:spcAft>
              <a:buClr>
                <a:srgbClr val="0070C0"/>
              </a:buClr>
              <a:buFont typeface="Wingdings" pitchFamily="2" charset="2"/>
              <a:buChar char=""/>
            </a:pPr>
            <a:r>
              <a:rPr lang="en-US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%(+|-)</a:t>
            </a:r>
            <a:r>
              <a:rPr lang="en-US" altLang="zh-TW" kern="100" dirty="0" err="1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nd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：格式化整數輸出。</a:t>
            </a:r>
          </a:p>
          <a:p>
            <a:pPr marL="342900" lvl="0" indent="-342900">
              <a:spcAft>
                <a:spcPts val="0"/>
              </a:spcAft>
              <a:buClr>
                <a:srgbClr val="0070C0"/>
              </a:buClr>
              <a:buFont typeface="Wingdings" pitchFamily="2" charset="2"/>
              <a:buChar char=""/>
            </a:pPr>
            <a:r>
              <a:rPr lang="en-US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%(+|-)</a:t>
            </a:r>
            <a:r>
              <a:rPr lang="en-US" altLang="zh-TW" kern="100" dirty="0" err="1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m.nf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：格式化浮點數輸出。</a:t>
            </a:r>
          </a:p>
          <a:p>
            <a:pPr marL="342900" lvl="0" indent="-342900">
              <a:spcAft>
                <a:spcPts val="0"/>
              </a:spcAft>
              <a:buClr>
                <a:srgbClr val="0070C0"/>
              </a:buClr>
              <a:buFont typeface="Wingdings" pitchFamily="2" charset="2"/>
              <a:buChar char=""/>
            </a:pPr>
            <a:r>
              <a:rPr lang="en-US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%(-)ns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：格式化字串輸出。</a:t>
            </a:r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81237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E8AB06F-D5AE-C744-A7AA-135E81827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67443"/>
            <a:ext cx="10515600" cy="5409520"/>
          </a:xfrm>
        </p:spPr>
        <p:txBody>
          <a:bodyPr/>
          <a:lstStyle/>
          <a:p>
            <a:pPr algn="just">
              <a:spcAft>
                <a:spcPts val="0"/>
              </a:spcAft>
            </a:pPr>
            <a:r>
              <a:rPr lang="zh-TW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程式實例</a:t>
            </a:r>
            <a:r>
              <a:rPr lang="en-US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ch4_</a:t>
            </a:r>
            <a:r>
              <a:rPr lang="en-US" altLang="zh-Hant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US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.py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：格式化輸出的應用。</a:t>
            </a:r>
            <a:endParaRPr lang="en-US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TW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程式實例</a:t>
            </a:r>
            <a:r>
              <a:rPr lang="en-US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ch4_</a:t>
            </a:r>
            <a:r>
              <a:rPr lang="en-US" altLang="zh-Hant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en-US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.py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：格式化輸出，靠左對齊的實例。</a:t>
            </a:r>
          </a:p>
          <a:p>
            <a:pPr marL="0" indent="0" algn="just">
              <a:spcAft>
                <a:spcPts val="0"/>
              </a:spcAft>
              <a:buNone/>
            </a:pPr>
            <a:endParaRPr lang="en-US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TW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程式實例</a:t>
            </a:r>
            <a:r>
              <a:rPr lang="en-US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ch4_</a:t>
            </a:r>
            <a:r>
              <a:rPr lang="en-US" altLang="zh-Hant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US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.py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：格式化輸出的應用。</a:t>
            </a:r>
          </a:p>
          <a:p>
            <a:pPr algn="just">
              <a:spcAft>
                <a:spcPts val="0"/>
              </a:spcAft>
            </a:pP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21935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042811-3851-C34B-8568-96157435A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4-2-4</a:t>
            </a:r>
            <a:r>
              <a:rPr lang="zh-TW" altLang="zh-TW" b="1" dirty="0"/>
              <a:t>：</a:t>
            </a:r>
            <a:r>
              <a:rPr lang="en-US" altLang="zh-TW" b="1" dirty="0"/>
              <a:t>format( )</a:t>
            </a:r>
            <a:r>
              <a:rPr lang="zh-TW" altLang="zh-TW" b="1" dirty="0"/>
              <a:t>函數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E55C19B-BC9C-8241-9C99-BDA56D4E1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4800">
              <a:spcAft>
                <a:spcPts val="0"/>
              </a:spcAft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print(“  …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輸出格式區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…  “ .format( 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變數系列區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,  …  ))</a:t>
            </a: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TW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程式實例</a:t>
            </a:r>
            <a:r>
              <a:rPr lang="en-US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ch4_</a:t>
            </a:r>
            <a:r>
              <a:rPr lang="en-US" altLang="zh-Hant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7</a:t>
            </a:r>
            <a:r>
              <a:rPr lang="en-US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.py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：使用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format( )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函數重新設計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ch4_3.py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。</a:t>
            </a:r>
          </a:p>
          <a:p>
            <a:pPr marL="0" indent="0">
              <a:buNone/>
            </a:pPr>
            <a:endParaRPr kumimoji="1" lang="en-US" altLang="zh-TW" dirty="0"/>
          </a:p>
          <a:p>
            <a:r>
              <a:rPr lang="zh-TW" altLang="zh-TW" dirty="0">
                <a:solidFill>
                  <a:srgbClr val="0070C0"/>
                </a:solidFill>
              </a:rPr>
              <a:t>程式實例</a:t>
            </a:r>
            <a:r>
              <a:rPr lang="en-US" altLang="zh-TW" dirty="0">
                <a:solidFill>
                  <a:srgbClr val="0070C0"/>
                </a:solidFill>
              </a:rPr>
              <a:t>ch4_</a:t>
            </a:r>
            <a:r>
              <a:rPr lang="en-US" altLang="zh-Hant" dirty="0">
                <a:solidFill>
                  <a:srgbClr val="0070C0"/>
                </a:solidFill>
              </a:rPr>
              <a:t>7_1</a:t>
            </a:r>
            <a:r>
              <a:rPr lang="en-US" altLang="zh-TW" dirty="0">
                <a:solidFill>
                  <a:srgbClr val="0070C0"/>
                </a:solidFill>
              </a:rPr>
              <a:t>.py</a:t>
            </a:r>
            <a:r>
              <a:rPr lang="zh-TW" altLang="zh-TW" dirty="0"/>
              <a:t>：計算圓面積，同時格式化輸出。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25100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E22C9F6-A31C-BE4D-98B0-4083887BA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6429"/>
            <a:ext cx="10515600" cy="5360534"/>
          </a:xfrm>
        </p:spPr>
        <p:txBody>
          <a:bodyPr/>
          <a:lstStyle/>
          <a:p>
            <a:r>
              <a:rPr lang="zh-TW" altLang="zh-TW" dirty="0"/>
              <a:t>格式化輸出時預設是靠右輸出，也可以使用下列參數設定輸出對齊方式。</a:t>
            </a:r>
            <a:endParaRPr lang="en-US" altLang="zh-TW" dirty="0"/>
          </a:p>
          <a:p>
            <a:pPr marL="0" indent="0">
              <a:buNone/>
            </a:pPr>
            <a:r>
              <a:rPr lang="zh-Hant" altLang="en-US" dirty="0"/>
              <a:t>    </a:t>
            </a:r>
            <a:r>
              <a:rPr lang="en-US" altLang="zh-TW" dirty="0"/>
              <a:t>&gt;</a:t>
            </a:r>
            <a:r>
              <a:rPr lang="zh-TW" altLang="zh-TW" dirty="0"/>
              <a:t>：靠右對齊</a:t>
            </a:r>
          </a:p>
          <a:p>
            <a:pPr marL="0" indent="0">
              <a:buNone/>
            </a:pPr>
            <a:r>
              <a:rPr lang="en-US" altLang="zh-TW" dirty="0"/>
              <a:t>    &lt;</a:t>
            </a:r>
            <a:r>
              <a:rPr lang="zh-TW" altLang="zh-TW" dirty="0"/>
              <a:t>：靠左對其</a:t>
            </a:r>
          </a:p>
          <a:p>
            <a:pPr marL="0" indent="0">
              <a:buNone/>
            </a:pPr>
            <a:r>
              <a:rPr lang="en-US" altLang="zh-TW" dirty="0"/>
              <a:t>    ^</a:t>
            </a:r>
            <a:r>
              <a:rPr lang="zh-TW" altLang="zh-TW" dirty="0"/>
              <a:t>：置中對齊</a:t>
            </a:r>
            <a:endParaRPr lang="en-US" altLang="zh-TW" dirty="0"/>
          </a:p>
          <a:p>
            <a:pPr algn="just">
              <a:spcAft>
                <a:spcPts val="0"/>
              </a:spcAft>
            </a:pPr>
            <a:r>
              <a:rPr lang="zh-TW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程式實例</a:t>
            </a:r>
            <a:r>
              <a:rPr lang="en-US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ch4_</a:t>
            </a:r>
            <a:r>
              <a:rPr lang="en-US" altLang="zh-Hant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7_2</a:t>
            </a:r>
            <a:r>
              <a:rPr lang="en-US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.py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：輸出對齊方式的應用。</a:t>
            </a:r>
          </a:p>
          <a:p>
            <a:pPr marL="0" indent="0">
              <a:buNone/>
            </a:pPr>
            <a:endParaRPr lang="en-US" altLang="zh-TW" dirty="0"/>
          </a:p>
          <a:p>
            <a:pPr algn="just">
              <a:spcAft>
                <a:spcPts val="0"/>
              </a:spcAft>
            </a:pPr>
            <a:r>
              <a:rPr lang="zh-TW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程式實例</a:t>
            </a:r>
            <a:r>
              <a:rPr lang="en-US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ch4_</a:t>
            </a:r>
            <a:r>
              <a:rPr lang="en-US" altLang="zh-Hant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7_3</a:t>
            </a:r>
            <a:r>
              <a:rPr lang="en-US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.py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：填充字元的應用。</a:t>
            </a:r>
          </a:p>
          <a:p>
            <a:pPr marL="0" indent="0">
              <a:buNone/>
            </a:pPr>
            <a:endParaRPr lang="zh-TW" altLang="zh-TW" dirty="0"/>
          </a:p>
          <a:p>
            <a:endParaRPr lang="zh-TW" altLang="zh-TW" dirty="0"/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2334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5507DE-00AC-BE48-B989-1D0BC16A9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4-</a:t>
            </a:r>
            <a:r>
              <a:rPr lang="en-US" altLang="zh-Hant" b="1" dirty="0"/>
              <a:t>3</a:t>
            </a:r>
            <a:r>
              <a:rPr lang="zh-TW" altLang="zh-TW" b="1" dirty="0"/>
              <a:t>：資料輸入</a:t>
            </a:r>
            <a:r>
              <a:rPr lang="en-US" altLang="zh-TW" b="1" dirty="0"/>
              <a:t>input( 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D37B90A-DEC5-E047-8629-91A4BE787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4800" algn="just">
              <a:spcAft>
                <a:spcPts val="0"/>
              </a:spcAft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value = input(“prompt: “)</a:t>
            </a: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altLang="zh-TW" dirty="0"/>
              <a:t>value</a:t>
            </a:r>
            <a:r>
              <a:rPr lang="zh-TW" altLang="zh-TW" dirty="0"/>
              <a:t>是變數</a:t>
            </a:r>
            <a:endParaRPr lang="en-US" altLang="zh-TW" dirty="0"/>
          </a:p>
          <a:p>
            <a:r>
              <a:rPr lang="en-US" altLang="zh-TW" dirty="0"/>
              <a:t>value</a:t>
            </a:r>
            <a:r>
              <a:rPr lang="zh-TW" altLang="zh-TW" dirty="0"/>
              <a:t>是字串資料</a:t>
            </a:r>
            <a:endParaRPr lang="en-US" altLang="zh-TW" dirty="0"/>
          </a:p>
          <a:p>
            <a:pPr algn="just">
              <a:spcAft>
                <a:spcPts val="0"/>
              </a:spcAft>
            </a:pPr>
            <a:r>
              <a:rPr lang="zh-TW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程式實例</a:t>
            </a:r>
            <a:r>
              <a:rPr lang="en-US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ch4_</a:t>
            </a:r>
            <a:r>
              <a:rPr lang="en-US" altLang="zh-Hant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lang="en-US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.py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：認識輸入資料類型。</a:t>
            </a:r>
            <a:endParaRPr kumimoji="1" lang="en-US" altLang="zh-TW" dirty="0"/>
          </a:p>
          <a:p>
            <a:pPr algn="just">
              <a:spcAft>
                <a:spcPts val="0"/>
              </a:spcAft>
            </a:pPr>
            <a:r>
              <a:rPr lang="zh-TW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程式實例</a:t>
            </a:r>
            <a:r>
              <a:rPr lang="en-US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ch4_</a:t>
            </a:r>
            <a:r>
              <a:rPr lang="en-US" altLang="zh-Hant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9</a:t>
            </a:r>
            <a:r>
              <a:rPr lang="en-US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.py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：基本資料輸入與運算。</a:t>
            </a:r>
            <a:endParaRPr lang="en-US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TW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程式實例</a:t>
            </a:r>
            <a:r>
              <a:rPr lang="en-US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ch4_1</a:t>
            </a:r>
            <a:r>
              <a:rPr lang="en-US" altLang="zh-Hant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n-US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.py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：請分別輸入中文和英文的姓氏以及名字，本程式將會名字組合並輸出問候語。</a:t>
            </a:r>
          </a:p>
          <a:p>
            <a:pPr algn="just">
              <a:spcAft>
                <a:spcPts val="0"/>
              </a:spcAft>
            </a:pP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35750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9DAA35-684B-7B4C-AB5D-335643686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4-</a:t>
            </a:r>
            <a:r>
              <a:rPr lang="en-US" altLang="zh-Hant" b="1" dirty="0"/>
              <a:t>4</a:t>
            </a:r>
            <a:r>
              <a:rPr lang="zh-TW" altLang="zh-TW" b="1" dirty="0"/>
              <a:t>：處理字串的數學運算</a:t>
            </a:r>
            <a:r>
              <a:rPr lang="en-US" altLang="zh-TW" b="1" dirty="0" err="1"/>
              <a:t>eval</a:t>
            </a:r>
            <a:r>
              <a:rPr lang="en-US" altLang="zh-TW" b="1" dirty="0"/>
              <a:t>( 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3CBAB2-8D97-E14A-A284-1AB02567E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result = </a:t>
            </a:r>
            <a:r>
              <a:rPr lang="en-US" altLang="zh-TW" dirty="0" err="1"/>
              <a:t>eval</a:t>
            </a:r>
            <a:r>
              <a:rPr lang="en-US" altLang="zh-TW" dirty="0"/>
              <a:t>(expression)		# expression</a:t>
            </a:r>
            <a:r>
              <a:rPr lang="zh-TW" altLang="zh-TW" dirty="0"/>
              <a:t>是字串</a:t>
            </a:r>
            <a:endParaRPr lang="en-US" altLang="zh-TW" dirty="0"/>
          </a:p>
          <a:p>
            <a:pPr algn="just">
              <a:spcAft>
                <a:spcPts val="0"/>
              </a:spcAft>
            </a:pPr>
            <a:r>
              <a:rPr lang="zh-TW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程式實例</a:t>
            </a:r>
            <a:r>
              <a:rPr lang="en-US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ch4_1</a:t>
            </a:r>
            <a:r>
              <a:rPr lang="en-US" altLang="zh-Hant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.py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：輸入公式，本程式可以列出計算結果。</a:t>
            </a:r>
          </a:p>
          <a:p>
            <a:pPr algn="just">
              <a:spcAft>
                <a:spcPts val="0"/>
              </a:spcAft>
            </a:pPr>
            <a:r>
              <a:rPr lang="zh-TW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程式實例</a:t>
            </a:r>
            <a:r>
              <a:rPr lang="en-US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ch4_1</a:t>
            </a:r>
            <a:r>
              <a:rPr lang="en-US" altLang="zh-Hant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.py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：使用</a:t>
            </a:r>
            <a:r>
              <a:rPr lang="en-US" altLang="zh-TW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eval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( )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重新設計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ch4_</a:t>
            </a:r>
            <a:r>
              <a:rPr lang="en-US" altLang="zh-Hant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9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.py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。</a:t>
            </a:r>
          </a:p>
          <a:p>
            <a:pPr algn="just">
              <a:spcAft>
                <a:spcPts val="0"/>
              </a:spcAft>
            </a:pPr>
            <a:r>
              <a:rPr lang="zh-TW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程式實例</a:t>
            </a:r>
            <a:r>
              <a:rPr lang="en-US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ch4_1</a:t>
            </a:r>
            <a:r>
              <a:rPr lang="en-US" altLang="zh-Hant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.py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：輸入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個數字，本程式可以輸出平均值，注意輸入時各數字間要用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”,”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隔開。</a:t>
            </a:r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75929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27BFB3-9C1D-4343-88FE-81798A59B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>
              <a:spcAft>
                <a:spcPts val="0"/>
              </a:spcAft>
            </a:pPr>
            <a:r>
              <a:rPr lang="en-US" altLang="zh-TW" b="1" kern="100" dirty="0">
                <a:solidFill>
                  <a:srgbClr val="0070C0"/>
                </a:solidFill>
                <a:latin typeface="Lantinghei TC Demibold" panose="03000509000000000000" pitchFamily="66" charset="-120"/>
                <a:cs typeface="Times New Roman" panose="02020603050405020304" pitchFamily="18" charset="0"/>
              </a:rPr>
              <a:t>4-5</a:t>
            </a:r>
            <a:r>
              <a:rPr lang="zh-TW" altLang="zh-TW" b="1" kern="100" dirty="0">
                <a:solidFill>
                  <a:srgbClr val="0070C0"/>
                </a:solidFill>
                <a:latin typeface="Calibri" panose="020F0502020204030204" pitchFamily="34" charset="0"/>
                <a:ea typeface="Lantinghei TC Demibold" panose="03000509000000000000" pitchFamily="66" charset="-120"/>
                <a:cs typeface="Times New Roman" panose="02020603050405020304" pitchFamily="18" charset="0"/>
              </a:rPr>
              <a:t>：認識內建</a:t>
            </a:r>
            <a:r>
              <a:rPr lang="en-US" altLang="zh-TW" b="1" kern="100" dirty="0">
                <a:solidFill>
                  <a:srgbClr val="0070C0"/>
                </a:solidFill>
                <a:latin typeface="Calibri" panose="020F0502020204030204" pitchFamily="34" charset="0"/>
                <a:ea typeface="Lantinghei TC Demibold" panose="03000509000000000000" pitchFamily="66" charset="-120"/>
                <a:cs typeface="Times New Roman" panose="02020603050405020304" pitchFamily="18" charset="0"/>
              </a:rPr>
              <a:t>(built-in)</a:t>
            </a:r>
            <a:r>
              <a:rPr lang="zh-TW" altLang="zh-TW" b="1" kern="100" dirty="0">
                <a:solidFill>
                  <a:srgbClr val="0070C0"/>
                </a:solidFill>
                <a:latin typeface="Calibri" panose="020F0502020204030204" pitchFamily="34" charset="0"/>
                <a:ea typeface="Lantinghei TC Demibold" panose="03000509000000000000" pitchFamily="66" charset="-120"/>
                <a:cs typeface="Times New Roman" panose="02020603050405020304" pitchFamily="18" charset="0"/>
              </a:rPr>
              <a:t>函數</a:t>
            </a:r>
            <a:endParaRPr lang="zh-TW" altLang="zh-TW" sz="40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7AD4F5B-BCE4-2B46-BA12-7957AA5D4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Calibri" panose="020F0502020204030204" pitchFamily="34" charset="0"/>
                <a:cs typeface="Times New Roman" panose="02020603050405020304" pitchFamily="18" charset="0"/>
              </a:rPr>
              <a:t>input( )</a:t>
            </a:r>
            <a:r>
              <a:rPr lang="zh-TW" altLang="zh-TW" dirty="0">
                <a:latin typeface="Calibri" panose="020F0502020204030204" pitchFamily="34" charset="0"/>
                <a:cs typeface="Times New Roman" panose="02020603050405020304" pitchFamily="18" charset="0"/>
              </a:rPr>
              <a:t>、</a:t>
            </a:r>
            <a:r>
              <a:rPr lang="en-US" altLang="zh-TW" dirty="0">
                <a:latin typeface="Calibri" panose="020F0502020204030204" pitchFamily="34" charset="0"/>
                <a:cs typeface="Times New Roman" panose="02020603050405020304" pitchFamily="18" charset="0"/>
              </a:rPr>
              <a:t>print( )</a:t>
            </a:r>
            <a:r>
              <a:rPr lang="zh-TW" altLang="zh-TW" dirty="0">
                <a:latin typeface="Calibri" panose="020F0502020204030204" pitchFamily="34" charset="0"/>
                <a:cs typeface="Times New Roman" panose="02020603050405020304" pitchFamily="18" charset="0"/>
              </a:rPr>
              <a:t>、</a:t>
            </a:r>
            <a:r>
              <a:rPr lang="en-US" altLang="zh-TW" dirty="0" err="1">
                <a:latin typeface="Calibri" panose="020F0502020204030204" pitchFamily="34" charset="0"/>
                <a:cs typeface="Times New Roman" panose="02020603050405020304" pitchFamily="18" charset="0"/>
              </a:rPr>
              <a:t>eval</a:t>
            </a:r>
            <a:r>
              <a:rPr lang="en-US" altLang="zh-TW" dirty="0">
                <a:latin typeface="Calibri" panose="020F0502020204030204" pitchFamily="34" charset="0"/>
                <a:cs typeface="Times New Roman" panose="02020603050405020304" pitchFamily="18" charset="0"/>
              </a:rPr>
              <a:t>( )</a:t>
            </a:r>
            <a:r>
              <a:rPr lang="zh-TW" altLang="zh-TW" dirty="0">
                <a:latin typeface="Calibri" panose="020F0502020204030204" pitchFamily="34" charset="0"/>
                <a:cs typeface="Times New Roman" panose="02020603050405020304" pitchFamily="18" charset="0"/>
              </a:rPr>
              <a:t>、</a:t>
            </a:r>
            <a:r>
              <a:rPr lang="en-US" altLang="zh-TW" dirty="0">
                <a:latin typeface="Calibri" panose="020F0502020204030204" pitchFamily="34" charset="0"/>
                <a:cs typeface="Times New Roman" panose="02020603050405020304" pitchFamily="18" charset="0"/>
              </a:rPr>
              <a:t>format( )</a:t>
            </a:r>
            <a:r>
              <a:rPr lang="zh-TW" altLang="zh-TW" dirty="0">
                <a:latin typeface="Calibri" panose="020F0502020204030204" pitchFamily="34" charset="0"/>
                <a:cs typeface="Times New Roman" panose="02020603050405020304" pitchFamily="18" charset="0"/>
              </a:rPr>
              <a:t>、</a:t>
            </a:r>
            <a:r>
              <a:rPr lang="en-US" altLang="zh-TW" dirty="0">
                <a:latin typeface="Calibri" panose="020F0502020204030204" pitchFamily="34" charset="0"/>
                <a:cs typeface="Times New Roman" panose="02020603050405020304" pitchFamily="18" charset="0"/>
              </a:rPr>
              <a:t>help( )</a:t>
            </a:r>
            <a:r>
              <a:rPr lang="zh-TW" altLang="zh-TW" dirty="0">
                <a:latin typeface="Calibri" panose="020F0502020204030204" pitchFamily="34" charset="0"/>
                <a:cs typeface="Times New Roman" panose="02020603050405020304" pitchFamily="18" charset="0"/>
              </a:rPr>
              <a:t>、</a:t>
            </a:r>
            <a:r>
              <a:rPr lang="en-US" altLang="zh-TW" dirty="0">
                <a:latin typeface="Calibri" panose="020F0502020204030204" pitchFamily="34" charset="0"/>
                <a:cs typeface="Times New Roman" panose="02020603050405020304" pitchFamily="18" charset="0"/>
              </a:rPr>
              <a:t>type( )</a:t>
            </a:r>
            <a:r>
              <a:rPr lang="zh-TW" altLang="zh-TW" dirty="0">
                <a:latin typeface="Calibri" panose="020F0502020204030204" pitchFamily="34" charset="0"/>
                <a:cs typeface="Times New Roman" panose="02020603050405020304" pitchFamily="18" charset="0"/>
              </a:rPr>
              <a:t>、</a:t>
            </a:r>
            <a:r>
              <a:rPr lang="en-US" altLang="zh-TW" dirty="0" err="1">
                <a:latin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US" altLang="zh-TW" dirty="0">
                <a:latin typeface="Calibri" panose="020F0502020204030204" pitchFamily="34" charset="0"/>
                <a:cs typeface="Times New Roman" panose="02020603050405020304" pitchFamily="18" charset="0"/>
              </a:rPr>
              <a:t>( )</a:t>
            </a:r>
            <a:r>
              <a:rPr lang="zh-TW" altLang="zh-TW" dirty="0">
                <a:latin typeface="Calibri" panose="020F0502020204030204" pitchFamily="34" charset="0"/>
                <a:cs typeface="Times New Roman" panose="02020603050405020304" pitchFamily="18" charset="0"/>
              </a:rPr>
              <a:t>、</a:t>
            </a:r>
            <a:r>
              <a:rPr lang="en-US" altLang="zh-TW" dirty="0">
                <a:latin typeface="Calibri" panose="020F0502020204030204" pitchFamily="34" charset="0"/>
                <a:cs typeface="Times New Roman" panose="02020603050405020304" pitchFamily="18" charset="0"/>
              </a:rPr>
              <a:t>float( )</a:t>
            </a:r>
            <a:r>
              <a:rPr lang="zh-TW" altLang="zh-TW" dirty="0">
                <a:latin typeface="Calibri" panose="020F0502020204030204" pitchFamily="34" charset="0"/>
                <a:cs typeface="Times New Roman" panose="02020603050405020304" pitchFamily="18" charset="0"/>
              </a:rPr>
              <a:t>、</a:t>
            </a:r>
            <a:r>
              <a:rPr lang="en-US" altLang="zh-TW" dirty="0">
                <a:latin typeface="Calibri" panose="020F0502020204030204" pitchFamily="34" charset="0"/>
                <a:cs typeface="Times New Roman" panose="02020603050405020304" pitchFamily="18" charset="0"/>
              </a:rPr>
              <a:t>abs( )</a:t>
            </a:r>
            <a:r>
              <a:rPr lang="zh-TW" altLang="zh-TW" dirty="0">
                <a:latin typeface="Calibri" panose="020F0502020204030204" pitchFamily="34" charset="0"/>
                <a:cs typeface="Times New Roman" panose="02020603050405020304" pitchFamily="18" charset="0"/>
              </a:rPr>
              <a:t>、</a:t>
            </a:r>
            <a:r>
              <a:rPr lang="en-US" altLang="zh-TW" dirty="0">
                <a:latin typeface="Calibri" panose="020F0502020204030204" pitchFamily="34" charset="0"/>
                <a:cs typeface="Times New Roman" panose="02020603050405020304" pitchFamily="18" charset="0"/>
              </a:rPr>
              <a:t>pow( )</a:t>
            </a:r>
            <a:r>
              <a:rPr lang="zh-TW" altLang="zh-TW" dirty="0">
                <a:latin typeface="Calibri" panose="020F0502020204030204" pitchFamily="34" charset="0"/>
                <a:cs typeface="Times New Roman" panose="02020603050405020304" pitchFamily="18" charset="0"/>
              </a:rPr>
              <a:t>、</a:t>
            </a:r>
            <a:r>
              <a:rPr lang="en-US" altLang="zh-TW" dirty="0">
                <a:latin typeface="Calibri" panose="020F0502020204030204" pitchFamily="34" charset="0"/>
                <a:cs typeface="Times New Roman" panose="02020603050405020304" pitchFamily="18" charset="0"/>
              </a:rPr>
              <a:t>round( )</a:t>
            </a:r>
            <a:r>
              <a:rPr lang="zh-TW" altLang="zh-TW" dirty="0">
                <a:latin typeface="Calibri" panose="020F0502020204030204" pitchFamily="34" charset="0"/>
                <a:cs typeface="Times New Roman" panose="02020603050405020304" pitchFamily="18" charset="0"/>
              </a:rPr>
              <a:t>、</a:t>
            </a:r>
            <a:r>
              <a:rPr lang="en-US" altLang="zh-TW" dirty="0" err="1">
                <a:latin typeface="Calibri" panose="020F0502020204030204" pitchFamily="34" charset="0"/>
                <a:cs typeface="Times New Roman" panose="02020603050405020304" pitchFamily="18" charset="0"/>
              </a:rPr>
              <a:t>str</a:t>
            </a:r>
            <a:r>
              <a:rPr lang="en-US" altLang="zh-TW" dirty="0">
                <a:latin typeface="Calibri" panose="020F0502020204030204" pitchFamily="34" charset="0"/>
                <a:cs typeface="Times New Roman" panose="02020603050405020304" pitchFamily="18" charset="0"/>
              </a:rPr>
              <a:t>( )</a:t>
            </a:r>
            <a:r>
              <a:rPr lang="zh-TW" altLang="zh-TW" dirty="0">
                <a:latin typeface="Calibri" panose="020F0502020204030204" pitchFamily="34" charset="0"/>
                <a:cs typeface="Times New Roman" panose="02020603050405020304" pitchFamily="18" charset="0"/>
              </a:rPr>
              <a:t>、</a:t>
            </a:r>
            <a:r>
              <a:rPr lang="en-US" altLang="zh-TW" dirty="0" err="1">
                <a:latin typeface="Calibri" panose="020F0502020204030204" pitchFamily="34" charset="0"/>
                <a:cs typeface="Times New Roman" panose="02020603050405020304" pitchFamily="18" charset="0"/>
              </a:rPr>
              <a:t>chr</a:t>
            </a:r>
            <a:r>
              <a:rPr lang="en-US" altLang="zh-TW" dirty="0">
                <a:latin typeface="Calibri" panose="020F0502020204030204" pitchFamily="34" charset="0"/>
                <a:cs typeface="Times New Roman" panose="02020603050405020304" pitchFamily="18" charset="0"/>
              </a:rPr>
              <a:t>( )</a:t>
            </a:r>
            <a:r>
              <a:rPr lang="zh-TW" altLang="zh-TW" dirty="0">
                <a:latin typeface="Calibri" panose="020F0502020204030204" pitchFamily="34" charset="0"/>
                <a:cs typeface="Times New Roman" panose="02020603050405020304" pitchFamily="18" charset="0"/>
              </a:rPr>
              <a:t>、</a:t>
            </a:r>
            <a:r>
              <a:rPr lang="en-US" altLang="zh-TW" dirty="0" err="1">
                <a:latin typeface="Calibri" panose="020F0502020204030204" pitchFamily="34" charset="0"/>
                <a:cs typeface="Times New Roman" panose="02020603050405020304" pitchFamily="18" charset="0"/>
              </a:rPr>
              <a:t>ord</a:t>
            </a:r>
            <a:r>
              <a:rPr lang="en-US" altLang="zh-TW" dirty="0">
                <a:latin typeface="Calibri" panose="020F0502020204030204" pitchFamily="34" charset="0"/>
                <a:cs typeface="Times New Roman" panose="02020603050405020304" pitchFamily="18" charset="0"/>
              </a:rPr>
              <a:t>( )</a:t>
            </a:r>
            <a:r>
              <a:rPr lang="zh-TW" altLang="zh-TW" dirty="0">
                <a:latin typeface="Calibri" panose="020F0502020204030204" pitchFamily="34" charset="0"/>
                <a:cs typeface="Times New Roman" panose="02020603050405020304" pitchFamily="18" charset="0"/>
              </a:rPr>
              <a:t>、</a:t>
            </a:r>
            <a:r>
              <a:rPr lang="en-US" altLang="zh-TW" dirty="0" err="1">
                <a:latin typeface="Calibri" panose="020F0502020204030204" pitchFamily="34" charset="0"/>
                <a:cs typeface="Times New Roman" panose="02020603050405020304" pitchFamily="18" charset="0"/>
              </a:rPr>
              <a:t>divmod</a:t>
            </a:r>
            <a:r>
              <a:rPr lang="en-US" altLang="zh-TW" dirty="0">
                <a:latin typeface="Calibri" panose="020F0502020204030204" pitchFamily="34" charset="0"/>
                <a:cs typeface="Times New Roman" panose="02020603050405020304" pitchFamily="18" charset="0"/>
              </a:rPr>
              <a:t>( )</a:t>
            </a:r>
            <a:r>
              <a:rPr lang="zh-TW" altLang="zh-TW" dirty="0"/>
              <a:t> 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19559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DA26C3-83B5-DE49-A0CF-AE376EF69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en-US" altLang="zh-TW" b="1" kern="100" dirty="0">
                <a:solidFill>
                  <a:srgbClr val="0070C0"/>
                </a:solidFill>
                <a:latin typeface="Lantinghei TC Demibold" panose="03000509000000000000" pitchFamily="66" charset="-120"/>
                <a:cs typeface="Times New Roman" panose="02020603050405020304" pitchFamily="18" charset="0"/>
              </a:rPr>
              <a:t>4-6</a:t>
            </a:r>
            <a:r>
              <a:rPr lang="zh-TW" altLang="zh-TW" b="1" kern="100" dirty="0">
                <a:solidFill>
                  <a:srgbClr val="0070C0"/>
                </a:solidFill>
                <a:latin typeface="Calibri" panose="020F0502020204030204" pitchFamily="34" charset="0"/>
                <a:ea typeface="Lantinghei TC Demibold" panose="03000509000000000000" pitchFamily="66" charset="-120"/>
                <a:cs typeface="Times New Roman" panose="02020603050405020304" pitchFamily="18" charset="0"/>
              </a:rPr>
              <a:t>：認識標準函數庫</a:t>
            </a:r>
            <a:r>
              <a:rPr lang="en-US" altLang="zh-TW" b="1" kern="100" dirty="0">
                <a:solidFill>
                  <a:srgbClr val="0070C0"/>
                </a:solidFill>
                <a:latin typeface="Calibri" panose="020F0502020204030204" pitchFamily="34" charset="0"/>
                <a:ea typeface="Lantinghei TC Demibold" panose="03000509000000000000" pitchFamily="66" charset="-120"/>
                <a:cs typeface="Times New Roman" panose="02020603050405020304" pitchFamily="18" charset="0"/>
              </a:rPr>
              <a:t>(standard library)</a:t>
            </a:r>
            <a:r>
              <a:rPr lang="zh-TW" altLang="zh-TW" b="1" kern="100" dirty="0">
                <a:solidFill>
                  <a:srgbClr val="0070C0"/>
                </a:solidFill>
                <a:latin typeface="Calibri" panose="020F0502020204030204" pitchFamily="34" charset="0"/>
                <a:ea typeface="Lantinghei TC Demibold" panose="03000509000000000000" pitchFamily="66" charset="-120"/>
                <a:cs typeface="Times New Roman" panose="02020603050405020304" pitchFamily="18" charset="0"/>
              </a:rPr>
              <a:t>模組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ABF8CEAE-0B40-2E4E-899D-8D851EB742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4728" y="2313100"/>
            <a:ext cx="9834715" cy="2536485"/>
          </a:xfrm>
        </p:spPr>
      </p:pic>
    </p:spTree>
    <p:extLst>
      <p:ext uri="{BB962C8B-B14F-4D97-AF65-F5344CB8AC3E}">
        <p14:creationId xmlns:p14="http://schemas.microsoft.com/office/powerpoint/2010/main" val="38262312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766AB8-0F7A-064B-99D3-9852BC9E1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just">
              <a:spcAft>
                <a:spcPts val="0"/>
              </a:spcAft>
            </a:pPr>
            <a:r>
              <a:rPr lang="en-US" altLang="zh-TW" b="1" kern="100" dirty="0">
                <a:solidFill>
                  <a:srgbClr val="0070C0"/>
                </a:solidFill>
                <a:latin typeface="Lantinghei TC Demibold" panose="03000509000000000000" pitchFamily="66" charset="-120"/>
                <a:cs typeface="Times New Roman" panose="02020603050405020304" pitchFamily="18" charset="0"/>
              </a:rPr>
              <a:t>4-7</a:t>
            </a:r>
            <a:r>
              <a:rPr lang="zh-TW" altLang="zh-TW" b="1" kern="100" dirty="0">
                <a:solidFill>
                  <a:srgbClr val="0070C0"/>
                </a:solidFill>
                <a:latin typeface="Calibri" panose="020F0502020204030204" pitchFamily="34" charset="0"/>
                <a:ea typeface="Lantinghei TC Demibold" panose="03000509000000000000" pitchFamily="66" charset="-120"/>
                <a:cs typeface="Times New Roman" panose="02020603050405020304" pitchFamily="18" charset="0"/>
              </a:rPr>
              <a:t>：專題設計</a:t>
            </a:r>
            <a:endParaRPr lang="zh-TW" altLang="zh-TW" sz="40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84858D0-9E19-B846-84AC-1317193EF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/>
              <a:t>4-7-1</a:t>
            </a:r>
            <a:r>
              <a:rPr lang="zh-TW" altLang="zh-TW" b="1" dirty="0"/>
              <a:t>：設計攝氏溫度和華氏溫度的轉換</a:t>
            </a:r>
            <a:endParaRPr lang="zh-TW" altLang="zh-TW" dirty="0"/>
          </a:p>
          <a:p>
            <a:pPr algn="just">
              <a:spcAft>
                <a:spcPts val="0"/>
              </a:spcAft>
            </a:pPr>
            <a:r>
              <a:rPr lang="zh-TW" altLang="en-US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zh-Hant" altLang="en-US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zh-TW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攝氏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溫度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= ( </a:t>
            </a:r>
            <a:r>
              <a:rPr lang="zh-TW" altLang="zh-TW" kern="100" dirty="0">
                <a:solidFill>
                  <a:srgbClr val="70AD47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華氏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溫度 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– 32 ) * 5 / 9</a:t>
            </a: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zh-TW" altLang="zh-TW" kern="100" dirty="0">
                <a:solidFill>
                  <a:srgbClr val="70AD47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華氏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溫度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zh-TW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攝氏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溫度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* ( 9 / 5 ) + 32</a:t>
            </a:r>
          </a:p>
          <a:p>
            <a:pPr algn="just">
              <a:spcAft>
                <a:spcPts val="0"/>
              </a:spcAft>
            </a:pPr>
            <a:r>
              <a:rPr lang="zh-TW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程式實例</a:t>
            </a:r>
            <a:r>
              <a:rPr lang="en-US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ch4_20.py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：請輸入華氏溫度，這個程式會輸出攝氏溫度。</a:t>
            </a:r>
          </a:p>
          <a:p>
            <a:pPr algn="just">
              <a:spcAft>
                <a:spcPts val="0"/>
              </a:spcAft>
            </a:pP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611405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1B486F-FAD7-894A-A169-8BF9166BC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zh-TW" b="1" kern="100" dirty="0">
                <a:solidFill>
                  <a:srgbClr val="806000"/>
                </a:solidFill>
                <a:latin typeface="Lantinghei TC Demibold" panose="03000509000000000000" pitchFamily="66" charset="-120"/>
                <a:cs typeface="Times New Roman" panose="02020603050405020304" pitchFamily="18" charset="0"/>
              </a:rPr>
              <a:t>4-7-2</a:t>
            </a:r>
            <a:r>
              <a:rPr lang="zh-TW" altLang="zh-TW" b="1" kern="100" dirty="0">
                <a:solidFill>
                  <a:srgbClr val="806000"/>
                </a:solidFill>
                <a:latin typeface="Calibri" panose="020F0502020204030204" pitchFamily="34" charset="0"/>
                <a:ea typeface="Lantinghei TC Demibold" panose="03000509000000000000" pitchFamily="66" charset="-120"/>
                <a:cs typeface="Times New Roman" panose="02020603050405020304" pitchFamily="18" charset="0"/>
              </a:rPr>
              <a:t>：雞兔同籠 – 解聯立方程式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20AA292-AB91-0641-9293-A4EEB167A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Aft>
                <a:spcPts val="0"/>
              </a:spcAft>
            </a:pPr>
            <a:r>
              <a:rPr lang="zh-TW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程式實例</a:t>
            </a:r>
            <a:r>
              <a:rPr lang="en-US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ch4_15.py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：請輸入頭和腳的數量，本程式會輸出</a:t>
            </a:r>
            <a:r>
              <a:rPr lang="zh-TW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雞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的數量和</a:t>
            </a:r>
            <a:r>
              <a:rPr lang="zh-TW" altLang="zh-TW" kern="100" dirty="0">
                <a:solidFill>
                  <a:srgbClr val="00B05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兔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的數量。</a:t>
            </a:r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5564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423C4A-D982-7A4F-951B-CB730DDE1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zh-TW" b="1" kern="100" dirty="0">
                <a:solidFill>
                  <a:srgbClr val="806000"/>
                </a:solidFill>
                <a:latin typeface="Lantinghei TC Demibold" panose="03000509000000000000" pitchFamily="66" charset="-120"/>
                <a:cs typeface="Times New Roman" panose="02020603050405020304" pitchFamily="18" charset="0"/>
              </a:rPr>
              <a:t>4-7-3</a:t>
            </a:r>
            <a:r>
              <a:rPr lang="zh-TW" altLang="zh-TW" b="1" kern="100" dirty="0">
                <a:solidFill>
                  <a:srgbClr val="806000"/>
                </a:solidFill>
                <a:latin typeface="Calibri" panose="020F0502020204030204" pitchFamily="34" charset="0"/>
                <a:ea typeface="Lantinghei TC Demibold" panose="03000509000000000000" pitchFamily="66" charset="-120"/>
                <a:cs typeface="Times New Roman" panose="02020603050405020304" pitchFamily="18" charset="0"/>
              </a:rPr>
              <a:t>：高斯數學 – 計算等差數列和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691F11E-6169-7648-8FDC-0844B510A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Aft>
                <a:spcPts val="0"/>
              </a:spcAft>
            </a:pPr>
            <a:r>
              <a:rPr lang="zh-TW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程式實例</a:t>
            </a:r>
            <a:r>
              <a:rPr lang="en-US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ch4_16.py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：使用等差數列計算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1 – 100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的總和。</a:t>
            </a:r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26970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49C165-6CE5-9E42-BE01-951AE2B10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4-7-</a:t>
            </a:r>
            <a:r>
              <a:rPr lang="en-US" altLang="zh-Hant" b="1" dirty="0"/>
              <a:t>4</a:t>
            </a:r>
            <a:r>
              <a:rPr lang="zh-TW" altLang="zh-TW" b="1" dirty="0"/>
              <a:t>：房屋貸款問題實作</a:t>
            </a:r>
            <a:endParaRPr kumimoji="1" lang="zh-TW" altLang="en-US" dirty="0"/>
          </a:p>
        </p:txBody>
      </p:sp>
      <p:pic>
        <p:nvPicPr>
          <p:cNvPr id="7" name="內容版面配置區 6" descr="../../../Desktop/螢幕快照%202018-10-10%20上午9.45.17.pn">
            <a:extLst>
              <a:ext uri="{FF2B5EF4-FFF2-40B4-BE49-F238E27FC236}">
                <a16:creationId xmlns:a16="http://schemas.microsoft.com/office/drawing/2014/main" id="{DF3A6D86-34C0-D341-92F8-5A213DDA3365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829" y="2220686"/>
            <a:ext cx="7249885" cy="232035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776424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CD2937-3944-A445-A451-4EDE57DEC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>
              <a:spcAft>
                <a:spcPts val="0"/>
              </a:spcAft>
            </a:pPr>
            <a:r>
              <a:rPr lang="en-US" altLang="zh-TW" b="1" kern="100" dirty="0">
                <a:solidFill>
                  <a:srgbClr val="806000"/>
                </a:solidFill>
                <a:latin typeface="Lantinghei TC Demibold" panose="03000509000000000000" pitchFamily="66" charset="-120"/>
                <a:cs typeface="Times New Roman" panose="02020603050405020304" pitchFamily="18" charset="0"/>
              </a:rPr>
              <a:t>4-7-5</a:t>
            </a:r>
            <a:r>
              <a:rPr lang="zh-TW" altLang="zh-TW" b="1" kern="100" dirty="0">
                <a:solidFill>
                  <a:srgbClr val="806000"/>
                </a:solidFill>
                <a:latin typeface="Calibri" panose="020F0502020204030204" pitchFamily="34" charset="0"/>
                <a:ea typeface="Lantinghei TC Demibold" panose="03000509000000000000" pitchFamily="66" charset="-120"/>
                <a:cs typeface="Times New Roman" panose="02020603050405020304" pitchFamily="18" charset="0"/>
              </a:rPr>
              <a:t>：使用</a:t>
            </a:r>
            <a:r>
              <a:rPr lang="en-US" altLang="zh-TW" b="1" kern="100" dirty="0">
                <a:solidFill>
                  <a:srgbClr val="806000"/>
                </a:solidFill>
                <a:latin typeface="Calibri" panose="020F0502020204030204" pitchFamily="34" charset="0"/>
                <a:ea typeface="Lantinghei TC Demibold" panose="03000509000000000000" pitchFamily="66" charset="-120"/>
                <a:cs typeface="Times New Roman" panose="02020603050405020304" pitchFamily="18" charset="0"/>
              </a:rPr>
              <a:t>math</a:t>
            </a:r>
            <a:r>
              <a:rPr lang="zh-TW" altLang="zh-TW" b="1" kern="100" dirty="0">
                <a:solidFill>
                  <a:srgbClr val="806000"/>
                </a:solidFill>
                <a:latin typeface="Calibri" panose="020F0502020204030204" pitchFamily="34" charset="0"/>
                <a:ea typeface="Lantinghei TC Demibold" panose="03000509000000000000" pitchFamily="66" charset="-120"/>
                <a:cs typeface="Times New Roman" panose="02020603050405020304" pitchFamily="18" charset="0"/>
              </a:rPr>
              <a:t>模組計算地球任意兩點的距離</a:t>
            </a: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6D872E0-92F5-4946-A72D-95AF27072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經度座標是介於</a:t>
            </a:r>
            <a:r>
              <a:rPr lang="en-US" altLang="zh-TW" dirty="0"/>
              <a:t>-180</a:t>
            </a:r>
            <a:r>
              <a:rPr lang="zh-TW" altLang="zh-TW" dirty="0"/>
              <a:t>和</a:t>
            </a:r>
            <a:r>
              <a:rPr lang="en-US" altLang="zh-TW" dirty="0"/>
              <a:t>180</a:t>
            </a:r>
            <a:r>
              <a:rPr lang="zh-TW" altLang="zh-TW" dirty="0"/>
              <a:t>度間，緯度座標是在</a:t>
            </a:r>
            <a:r>
              <a:rPr lang="en-US" altLang="zh-TW" dirty="0"/>
              <a:t>-90</a:t>
            </a:r>
            <a:r>
              <a:rPr lang="zh-TW" altLang="zh-TW" dirty="0"/>
              <a:t>和</a:t>
            </a:r>
            <a:r>
              <a:rPr lang="en-US" altLang="zh-TW" dirty="0"/>
              <a:t>90</a:t>
            </a:r>
            <a:r>
              <a:rPr lang="zh-TW" altLang="zh-TW" dirty="0"/>
              <a:t>度間</a:t>
            </a:r>
            <a:endParaRPr lang="en-US" altLang="zh-TW" dirty="0"/>
          </a:p>
          <a:p>
            <a:r>
              <a:rPr lang="zh-TW" altLang="zh-TW" dirty="0"/>
              <a:t>雖然我們是習慣稱經緯度，在用小括號表達時</a:t>
            </a:r>
            <a:r>
              <a:rPr lang="en-US" altLang="zh-TW" dirty="0"/>
              <a:t>(</a:t>
            </a:r>
            <a:r>
              <a:rPr lang="zh-TW" altLang="zh-TW" dirty="0"/>
              <a:t>緯度</a:t>
            </a:r>
            <a:r>
              <a:rPr lang="en-US" altLang="zh-TW" dirty="0"/>
              <a:t>, </a:t>
            </a:r>
            <a:r>
              <a:rPr lang="zh-TW" altLang="zh-TW" dirty="0"/>
              <a:t>經度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r>
              <a:rPr kumimoji="1" lang="zh-Hant" altLang="en-US" dirty="0"/>
              <a:t>   </a:t>
            </a:r>
            <a:r>
              <a:rPr lang="en-US" altLang="zh-TW" dirty="0"/>
              <a:t>distance = r*</a:t>
            </a:r>
            <a:r>
              <a:rPr lang="en-US" altLang="zh-TW" dirty="0" err="1"/>
              <a:t>acos</a:t>
            </a:r>
            <a:r>
              <a:rPr lang="en-US" altLang="zh-TW" dirty="0"/>
              <a:t>(sin(x1)*sin(x2)+cos(x1)*cos(x2)*cos(y1-y2))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671510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1D877E8-28FA-EC43-B335-DC354D0B7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67443"/>
            <a:ext cx="10515600" cy="5409520"/>
          </a:xfrm>
        </p:spPr>
        <p:txBody>
          <a:bodyPr/>
          <a:lstStyle/>
          <a:p>
            <a:pPr algn="just">
              <a:spcAft>
                <a:spcPts val="0"/>
              </a:spcAft>
            </a:pPr>
            <a:r>
              <a:rPr lang="zh-TW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程式實例</a:t>
            </a:r>
            <a:r>
              <a:rPr lang="en-US" altLang="zh-TW" kern="10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ch4_</a:t>
            </a:r>
            <a:r>
              <a:rPr lang="en-US" altLang="zh-Hant" kern="10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18</a:t>
            </a:r>
            <a:r>
              <a:rPr lang="en-US" altLang="zh-TW" kern="10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py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：香港紅磡車站的經緯度資訊是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(22.2839, 114.1731)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，台北車</a:t>
            </a:r>
            <a:r>
              <a:rPr lang="zh-TW" altLang="zh-TW" kern="1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站的經緯度是</a:t>
            </a:r>
            <a:r>
              <a:rPr lang="en-US" altLang="zh-TW" kern="1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(25.0452, 121.5168)</a:t>
            </a:r>
            <a:r>
              <a:rPr lang="zh-TW" altLang="zh-TW" kern="1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，請計算台北車站至香港紅磡車站的距離。</a:t>
            </a: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kumimoji="1" lang="en-US" altLang="zh-TW" dirty="0"/>
          </a:p>
          <a:p>
            <a:endParaRPr kumimoji="1" lang="zh-TW" altLang="en-US" dirty="0"/>
          </a:p>
        </p:txBody>
      </p:sp>
      <p:pic>
        <p:nvPicPr>
          <p:cNvPr id="4" name="圖片 3" descr="../../../Downloads/p5%20(24).jpg">
            <a:extLst>
              <a:ext uri="{FF2B5EF4-FFF2-40B4-BE49-F238E27FC236}">
                <a16:creationId xmlns:a16="http://schemas.microsoft.com/office/drawing/2014/main" id="{08F4D2A9-A0C8-2E45-AFF7-A9BB689200C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836" y="2732428"/>
            <a:ext cx="4384992" cy="2982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圖片 4" descr="../../../Downloads/p6%20(20).jpg">
            <a:extLst>
              <a:ext uri="{FF2B5EF4-FFF2-40B4-BE49-F238E27FC236}">
                <a16:creationId xmlns:a16="http://schemas.microsoft.com/office/drawing/2014/main" id="{AEAAB8BC-5D3E-D648-B976-7C3292B4C39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5548" y="2732428"/>
            <a:ext cx="4154352" cy="29825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0806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791</Words>
  <Application>Microsoft Macintosh PowerPoint</Application>
  <PresentationFormat>寬螢幕</PresentationFormat>
  <Paragraphs>70</Paragraphs>
  <Slides>19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7" baseType="lpstr">
      <vt:lpstr>新細明體</vt:lpstr>
      <vt:lpstr>Lantinghei TC Demibold</vt:lpstr>
      <vt:lpstr>Arial</vt:lpstr>
      <vt:lpstr>Calibri</vt:lpstr>
      <vt:lpstr>Calibri Light</vt:lpstr>
      <vt:lpstr>Times New Roman</vt:lpstr>
      <vt:lpstr>Wingdings</vt:lpstr>
      <vt:lpstr>Office 佈景主題</vt:lpstr>
      <vt:lpstr>第4章 </vt:lpstr>
      <vt:lpstr>4-1：Python的輔助說明help( )</vt:lpstr>
      <vt:lpstr>4-2：格式化輸出資料使用print( )</vt:lpstr>
      <vt:lpstr>4-2-2：格式化print( )輸出</vt:lpstr>
      <vt:lpstr>PowerPoint 簡報</vt:lpstr>
      <vt:lpstr>4-2-3：精準控制格式化的輸出</vt:lpstr>
      <vt:lpstr>PowerPoint 簡報</vt:lpstr>
      <vt:lpstr>4-2-4：format( )函數</vt:lpstr>
      <vt:lpstr>PowerPoint 簡報</vt:lpstr>
      <vt:lpstr>4-3：資料輸入input( )</vt:lpstr>
      <vt:lpstr>4-4：處理字串的數學運算eval( )</vt:lpstr>
      <vt:lpstr>4-5：認識內建(built-in)函數</vt:lpstr>
      <vt:lpstr>4-6：認識標準函數庫(standard library)模組</vt:lpstr>
      <vt:lpstr>4-7：專題設計</vt:lpstr>
      <vt:lpstr>4-7-2：雞兔同籠 – 解聯立方程式 </vt:lpstr>
      <vt:lpstr>4-7-3：高斯數學 – 計算等差數列和</vt:lpstr>
      <vt:lpstr>4-7-4：房屋貸款問題實作</vt:lpstr>
      <vt:lpstr>4-7-5：使用math模組計算地球任意兩點的距離</vt:lpstr>
      <vt:lpstr>PowerPoint 簡報</vt:lpstr>
    </vt:vector>
  </TitlesOfParts>
  <Company/>
  <LinksUpToDate>false</LinksUpToDate>
  <SharedDoc>false</SharedDoc>
  <HyperlinksChanged>false</HyperlinksChanged>
  <AppVersion>16.0010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HungJiin-Kwei</dc:creator>
  <cp:lastModifiedBy>HungJiin-Kwei</cp:lastModifiedBy>
  <cp:revision>10</cp:revision>
  <dcterms:created xsi:type="dcterms:W3CDTF">2019-04-25T17:54:30Z</dcterms:created>
  <dcterms:modified xsi:type="dcterms:W3CDTF">2020-04-17T07:20:11Z</dcterms:modified>
</cp:coreProperties>
</file>